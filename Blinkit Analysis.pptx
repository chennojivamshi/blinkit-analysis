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702E"/>
    <a:srgbClr val="FFD2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81" d="100"/>
          <a:sy n="81" d="100"/>
        </p:scale>
        <p:origin x="61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noji vamshi" userId="a162e059365eb882" providerId="LiveId" clId="{D449135C-F0CF-4F08-AFB4-D1E7408DE5B6}"/>
    <pc:docChg chg="custSel modSld">
      <pc:chgData name="chennoji vamshi" userId="a162e059365eb882" providerId="LiveId" clId="{D449135C-F0CF-4F08-AFB4-D1E7408DE5B6}" dt="2026-08-17T18:26:10.120" v="2" actId="478"/>
      <pc:docMkLst>
        <pc:docMk/>
      </pc:docMkLst>
      <pc:sldChg chg="delSp mod">
        <pc:chgData name="chennoji vamshi" userId="a162e059365eb882" providerId="LiveId" clId="{D449135C-F0CF-4F08-AFB4-D1E7408DE5B6}" dt="2026-08-17T18:26:00.874" v="0" actId="478"/>
        <pc:sldMkLst>
          <pc:docMk/>
          <pc:sldMk cId="854288352" sldId="257"/>
        </pc:sldMkLst>
        <pc:picChg chg="del">
          <ac:chgData name="chennoji vamshi" userId="a162e059365eb882" providerId="LiveId" clId="{D449135C-F0CF-4F08-AFB4-D1E7408DE5B6}" dt="2026-08-17T18:26:00.874" v="0" actId="478"/>
          <ac:picMkLst>
            <pc:docMk/>
            <pc:sldMk cId="854288352" sldId="257"/>
            <ac:picMk id="13" creationId="{736985F1-78C3-EC87-83A0-2D323CD4C9C0}"/>
          </ac:picMkLst>
        </pc:picChg>
      </pc:sldChg>
      <pc:sldChg chg="delSp mod">
        <pc:chgData name="chennoji vamshi" userId="a162e059365eb882" providerId="LiveId" clId="{D449135C-F0CF-4F08-AFB4-D1E7408DE5B6}" dt="2026-08-17T18:26:05.479" v="1" actId="478"/>
        <pc:sldMkLst>
          <pc:docMk/>
          <pc:sldMk cId="3865209502" sldId="258"/>
        </pc:sldMkLst>
        <pc:picChg chg="del">
          <ac:chgData name="chennoji vamshi" userId="a162e059365eb882" providerId="LiveId" clId="{D449135C-F0CF-4F08-AFB4-D1E7408DE5B6}" dt="2026-08-17T18:26:05.479" v="1" actId="478"/>
          <ac:picMkLst>
            <pc:docMk/>
            <pc:sldMk cId="3865209502" sldId="258"/>
            <ac:picMk id="12" creationId="{8D56A6E6-9FEB-E12A-1F6A-8FCBFFF9CFAD}"/>
          </ac:picMkLst>
        </pc:picChg>
      </pc:sldChg>
      <pc:sldChg chg="delSp mod">
        <pc:chgData name="chennoji vamshi" userId="a162e059365eb882" providerId="LiveId" clId="{D449135C-F0CF-4F08-AFB4-D1E7408DE5B6}" dt="2026-08-17T18:26:10.120" v="2" actId="478"/>
        <pc:sldMkLst>
          <pc:docMk/>
          <pc:sldMk cId="1262944802" sldId="259"/>
        </pc:sldMkLst>
        <pc:picChg chg="del">
          <ac:chgData name="chennoji vamshi" userId="a162e059365eb882" providerId="LiveId" clId="{D449135C-F0CF-4F08-AFB4-D1E7408DE5B6}" dt="2026-08-17T18:26:10.120" v="2" actId="478"/>
          <ac:picMkLst>
            <pc:docMk/>
            <pc:sldMk cId="1262944802" sldId="259"/>
            <ac:picMk id="12" creationId="{8D56A6E6-9FEB-E12A-1F6A-8FCBFFF9CFA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82564-02E3-D3A0-BA72-B0A78FAA43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2AAC36-044B-0AC7-04BD-D3EF41002E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FF40F-5AB0-F5DD-976B-9FF8DFA66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2387E-73A3-349E-15F7-BE3AE12E9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E79C7-CF5E-5077-F11B-5EBBDE8BC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4586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55398-A0B4-B0C1-DECD-80E12899A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9374D-B4BE-73F9-B380-032879DD1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2132E-FC93-5E72-7583-ABB7E447D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7B354-C429-150F-AE4F-2B5E7D4B4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8026B-9298-63EE-E6B0-AF6C0F4C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032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12E8D-5B1B-76F5-895C-FBEB64706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C92B5-D491-A147-6CDB-7805C6961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FF255-8411-B0ED-33E0-3EE5E3E00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DAED0-6617-D137-5BD0-E80CE02FF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620E0-A920-FF59-A2AE-60E3CF4A5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788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427C2-A667-C5A6-E3C5-B88D467D2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0831C-FC7B-CE98-57EE-2D90E6C816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9BDFF2-08E7-647B-5BC2-489469F12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6DAB2-CA57-9EF2-72C1-AA1D1803F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58573-0091-6A5F-D557-F5A9D748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2A30C0-D94A-37F3-F971-187E7294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0905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63371-4EEE-A878-4263-338DDD314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CBE2E-A214-8FF7-B506-1A702BFF2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DAC51-5D38-7B60-6563-40673FF1B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1DB67-A87F-3CDD-21C0-93C0A5D663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F70B5D-5589-6CA5-EDEA-7D4CF8B397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DE1FBC-4633-0991-2985-FE63EE57B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1993A1-3B5D-5366-0C06-2EB03266E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C6CA13-FC18-E849-3427-03A45AA6B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5148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B1E75-81F5-A7DC-F534-D2655BB35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D95CF9-0E1D-D9D7-AC2E-4303B4B4B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03264F-63EC-355B-220A-E96E5AC20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09A40-590D-C6D0-45FE-1D0AE322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37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4B1193-338A-8592-D4B1-C00B44427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3B8F80-119B-994B-FFC7-08461ECD8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A22B5-9194-D4B4-96D6-57F6D5D82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4531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1B807-24DD-6095-3850-528464C73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4A17B-48B0-F839-7626-DE987E65E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316A98-E6DE-04F8-2B26-50F3F83E4E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704CD-B260-0D9E-D8B5-38F858314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EC88D0-A159-448F-FBA7-F89632DFB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4BC0BF-26DD-30E3-0872-2D0A97304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0172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C36C3-104A-78CB-751D-E8B5227D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5719CD-AB8E-AC7F-EE9A-77B74F1921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FF2481-AE12-4965-C447-B494277AE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78F691-75D4-97B6-9E85-54F493D70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41D0A-1F30-272B-9D94-85507D574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EA8210-996A-0F35-7A07-5042A5746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860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E461B-53FC-A840-D721-F8ABFDD7B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30C99-0236-8EB5-B981-78BA0E7661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B9C54-BDFF-328D-D032-B4E071E14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1614A-B311-9079-E687-2860B710B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56BAF-F0A9-4D2F-8FD7-3094670F8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826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64A427-07D7-BDC7-1B2A-DF6055FF45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41D35-5E89-DBBF-DDF6-01486BCBAA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A7CFB-D1E0-89A9-0E4B-4E3EB5267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53F659-0FEF-8989-D194-DB4C237A1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BC4A2-0DDE-0107-9E82-727ECD7F6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21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B7AFEC-E822-BD39-3C5F-93B07B5F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7F2F92-BAA3-25DD-FD21-B89602C4E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70D4F-1F93-4291-1D25-0A877C5D2F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B7FD77-64CE-4E94-98DD-310047DA497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3E490-7CBD-8DC6-71E8-F21BE7C544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72400-5D52-84D1-F483-F93DDC833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D8B05-D458-4BD0-8766-5A7BBDA2FD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6558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8E2D7C56-7B75-E761-4F59-68C3E96E0F50}"/>
              </a:ext>
            </a:extLst>
          </p:cNvPr>
          <p:cNvSpPr txBox="1"/>
          <p:nvPr/>
        </p:nvSpPr>
        <p:spPr>
          <a:xfrm>
            <a:off x="4024312" y="119060"/>
            <a:ext cx="4143376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4000" dirty="0">
                <a:latin typeface="Segoe UI Black" panose="020B0A02040204020203" pitchFamily="34" charset="0"/>
                <a:ea typeface="Segoe UI Black" panose="020B0A02040204020203" pitchFamily="34" charset="0"/>
              </a:rPr>
              <a:t>blink</a:t>
            </a:r>
            <a:r>
              <a:rPr lang="en-IN" sz="4000" dirty="0">
                <a:solidFill>
                  <a:schemeClr val="accent6">
                    <a:lumMod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it</a:t>
            </a:r>
            <a:r>
              <a:rPr lang="en-IN" sz="40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IN" sz="4000" dirty="0">
                <a:solidFill>
                  <a:schemeClr val="accent5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Analysis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D1B96785-4B8B-FA5B-C78A-A11268074C33}"/>
              </a:ext>
            </a:extLst>
          </p:cNvPr>
          <p:cNvSpPr txBox="1"/>
          <p:nvPr/>
        </p:nvSpPr>
        <p:spPr>
          <a:xfrm>
            <a:off x="104773" y="990601"/>
            <a:ext cx="5724527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Arial Rounded MT Bold" panose="020F0704030504030204" pitchFamily="34" charset="0"/>
                <a:ea typeface="Segoe UI Black" panose="020B0A02040204020203" pitchFamily="34" charset="0"/>
              </a:rPr>
              <a:t>BUSINESS REQUIREMENT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0B16D1-28F8-BE3B-D4FC-F1FA056DCCC7}"/>
              </a:ext>
            </a:extLst>
          </p:cNvPr>
          <p:cNvSpPr txBox="1"/>
          <p:nvPr/>
        </p:nvSpPr>
        <p:spPr>
          <a:xfrm>
            <a:off x="104773" y="1770281"/>
            <a:ext cx="11706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To conduct a comprehensive analysis of Blinkit's sales performance, customer satisfaction, and inventory distribution to identify key insights and opportunities for optimization using various KPIs and visualizations in Power BI.</a:t>
            </a:r>
            <a:endParaRPr lang="en-IN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D068555-1BC7-C50B-CCCE-16510F32C912}"/>
              </a:ext>
            </a:extLst>
          </p:cNvPr>
          <p:cNvSpPr txBox="1"/>
          <p:nvPr/>
        </p:nvSpPr>
        <p:spPr>
          <a:xfrm>
            <a:off x="104773" y="2565795"/>
            <a:ext cx="5724527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400" b="1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Segoe UI Black" panose="020B0A02040204020203" pitchFamily="34" charset="0"/>
              </a:rPr>
              <a:t>KPI’s Requirements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6C98889-0FB0-7BAE-666E-6339C6BFB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3" y="3211234"/>
            <a:ext cx="7896227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Total Sales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overall revenue generated from all items sold.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Sales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average revenue per sale.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 of Items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total count of different items sold.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Rating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average customer rating for items sold. </a:t>
            </a:r>
          </a:p>
        </p:txBody>
      </p:sp>
    </p:spTree>
    <p:extLst>
      <p:ext uri="{BB962C8B-B14F-4D97-AF65-F5344CB8AC3E}">
        <p14:creationId xmlns:p14="http://schemas.microsoft.com/office/powerpoint/2010/main" val="854288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8E2D7C56-7B75-E761-4F59-68C3E96E0F50}"/>
              </a:ext>
            </a:extLst>
          </p:cNvPr>
          <p:cNvSpPr txBox="1"/>
          <p:nvPr/>
        </p:nvSpPr>
        <p:spPr>
          <a:xfrm>
            <a:off x="4024312" y="119060"/>
            <a:ext cx="4143376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4000" dirty="0">
                <a:latin typeface="Segoe UI Black" panose="020B0A02040204020203" pitchFamily="34" charset="0"/>
                <a:ea typeface="Segoe UI Black" panose="020B0A02040204020203" pitchFamily="34" charset="0"/>
              </a:rPr>
              <a:t>blink</a:t>
            </a:r>
            <a:r>
              <a:rPr lang="en-IN" sz="4000" dirty="0">
                <a:solidFill>
                  <a:schemeClr val="accent6">
                    <a:lumMod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it</a:t>
            </a:r>
            <a:r>
              <a:rPr lang="en-IN" sz="40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IN" sz="4000" dirty="0">
                <a:solidFill>
                  <a:schemeClr val="accent5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Analysis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D1B96785-4B8B-FA5B-C78A-A11268074C33}"/>
              </a:ext>
            </a:extLst>
          </p:cNvPr>
          <p:cNvSpPr txBox="1"/>
          <p:nvPr/>
        </p:nvSpPr>
        <p:spPr>
          <a:xfrm>
            <a:off x="104773" y="990601"/>
            <a:ext cx="5724527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Arial Rounded MT Bold" panose="020F0704030504030204" pitchFamily="34" charset="0"/>
                <a:ea typeface="Segoe UI Black" panose="020B0A02040204020203" pitchFamily="34" charset="0"/>
              </a:rPr>
              <a:t>BUSINESS REQUIREMENT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D068555-1BC7-C50B-CCCE-16510F32C912}"/>
              </a:ext>
            </a:extLst>
          </p:cNvPr>
          <p:cNvSpPr txBox="1"/>
          <p:nvPr/>
        </p:nvSpPr>
        <p:spPr>
          <a:xfrm>
            <a:off x="104773" y="1550847"/>
            <a:ext cx="5724527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400" b="1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Segoe UI Black" panose="020B0A02040204020203" pitchFamily="34" charset="0"/>
              </a:rPr>
              <a:t>Chart’s Requirements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D19471D-A4DF-3C83-9AEF-C9FD844FA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145" y="2114527"/>
            <a:ext cx="11139524" cy="3985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Total Sales by Fat Content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Objective: Analyze the impact of fat content on total sales.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	Additional KPI Metrics: Assess how other KPIs (Average Sales, Number of Items, Average Rating) vary with fat content.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	Chart Type: Donut Chart.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Total Sales by Item Type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Objective: Identify the performance of different item types in terms of total sales.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	Additional KPI Metrics: Assess how other KPIs (Average Sales, Number of Items, Average Rating) vary with fat content.</a:t>
            </a:r>
            <a:endParaRPr lang="en-US" altLang="en-US" sz="1600" b="1" dirty="0">
              <a:solidFill>
                <a:schemeClr val="accent1">
                  <a:lumMod val="75000"/>
                </a:schemeClr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	Chart Type: Bar Chart.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Fat Content by Outlet for Total Sales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R="0"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Objective: Compare total sales across different outlets segmented by fat content.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	Additional KPI Metrics: Assess how other KPIs (Average Sales, Number of Items, Average Rating) vary with fat content.</a:t>
            </a:r>
            <a:endParaRPr lang="en-US" altLang="en-US" sz="1600" b="1" dirty="0">
              <a:solidFill>
                <a:schemeClr val="accent1">
                  <a:lumMod val="75000"/>
                </a:schemeClr>
              </a:solidFill>
            </a:endParaRPr>
          </a:p>
          <a:p>
            <a:pPr marR="0"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	Chart Type: Stacked Column Chart.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Total Sales by Outlet Establishment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R="0"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Objective: Evaluate how the age or type of outlet establishment influences total sales.</a:t>
            </a:r>
          </a:p>
          <a:p>
            <a:pPr marR="0"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	Chart Type: Line Chart.</a:t>
            </a:r>
          </a:p>
        </p:txBody>
      </p:sp>
    </p:spTree>
    <p:extLst>
      <p:ext uri="{BB962C8B-B14F-4D97-AF65-F5344CB8AC3E}">
        <p14:creationId xmlns:p14="http://schemas.microsoft.com/office/powerpoint/2010/main" val="3865209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8E2D7C56-7B75-E761-4F59-68C3E96E0F50}"/>
              </a:ext>
            </a:extLst>
          </p:cNvPr>
          <p:cNvSpPr txBox="1"/>
          <p:nvPr/>
        </p:nvSpPr>
        <p:spPr>
          <a:xfrm>
            <a:off x="4024312" y="119060"/>
            <a:ext cx="4143376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4000" dirty="0">
                <a:latin typeface="Segoe UI Black" panose="020B0A02040204020203" pitchFamily="34" charset="0"/>
                <a:ea typeface="Segoe UI Black" panose="020B0A02040204020203" pitchFamily="34" charset="0"/>
              </a:rPr>
              <a:t>blink</a:t>
            </a:r>
            <a:r>
              <a:rPr lang="en-IN" sz="4000" dirty="0">
                <a:solidFill>
                  <a:schemeClr val="accent6">
                    <a:lumMod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it</a:t>
            </a:r>
            <a:r>
              <a:rPr lang="en-IN" sz="40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IN" sz="4000" dirty="0">
                <a:solidFill>
                  <a:schemeClr val="accent5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Analysis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D1B96785-4B8B-FA5B-C78A-A11268074C33}"/>
              </a:ext>
            </a:extLst>
          </p:cNvPr>
          <p:cNvSpPr txBox="1"/>
          <p:nvPr/>
        </p:nvSpPr>
        <p:spPr>
          <a:xfrm>
            <a:off x="104773" y="990601"/>
            <a:ext cx="5724527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Arial Rounded MT Bold" panose="020F0704030504030204" pitchFamily="34" charset="0"/>
                <a:ea typeface="Segoe UI Black" panose="020B0A02040204020203" pitchFamily="34" charset="0"/>
              </a:rPr>
              <a:t>BUSINESS REQUIREMENT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D068555-1BC7-C50B-CCCE-16510F32C912}"/>
              </a:ext>
            </a:extLst>
          </p:cNvPr>
          <p:cNvSpPr txBox="1"/>
          <p:nvPr/>
        </p:nvSpPr>
        <p:spPr>
          <a:xfrm>
            <a:off x="104773" y="1550847"/>
            <a:ext cx="5724527" cy="58340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400" b="1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Segoe UI Black" panose="020B0A02040204020203" pitchFamily="34" charset="0"/>
              </a:rPr>
              <a:t>Chart’s Requirements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0A68FF2-78A6-71A6-F0DB-6CF5C5D20A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3" y="2308322"/>
            <a:ext cx="11353802" cy="2893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latin typeface="Arial" panose="020B0604020202020204" pitchFamily="34" charset="0"/>
              </a:rPr>
              <a:t>5. Sales by Outlet Size: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latin typeface="Arial" panose="020B0604020202020204" pitchFamily="34" charset="0"/>
              </a:rPr>
              <a:t>	</a:t>
            </a: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Objective: Analyze the correlation between outlet size and total sales.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	Chart Type: Donut/ Pie Chart.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latin typeface="Arial" panose="020B0604020202020204" pitchFamily="34" charset="0"/>
              </a:rPr>
              <a:t>6. Sales by Outlet Location: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latin typeface="Arial" panose="020B0604020202020204" pitchFamily="34" charset="0"/>
              </a:rPr>
              <a:t>	</a:t>
            </a: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Objective: Assess the geographic distribution of sales across different locations.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	Chart Type: Funnel Map.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latin typeface="Arial" panose="020B0604020202020204" pitchFamily="34" charset="0"/>
              </a:rPr>
              <a:t>7. All Metrics by Outlet Type: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latin typeface="Arial" panose="020B0604020202020204" pitchFamily="34" charset="0"/>
              </a:rPr>
              <a:t>	</a:t>
            </a: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Objective: Provide a comprehensive view of all key metrics (Total Sales, Average Sales, Number of Items, Average Rating) 	broken down by different outlet types.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	Chart Type: Matrix Card.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b="1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2944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396</Words>
  <Application>Microsoft Office PowerPoint</Application>
  <PresentationFormat>Widescreen</PresentationFormat>
  <Paragraphs>38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Rounded MT Bold</vt:lpstr>
      <vt:lpstr>Calibri</vt:lpstr>
      <vt:lpstr>Calibri Light</vt:lpstr>
      <vt:lpstr>Segoe UI Black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Swapnajeet</dc:creator>
  <cp:lastModifiedBy>chennoji vamshi</cp:lastModifiedBy>
  <cp:revision>13</cp:revision>
  <dcterms:created xsi:type="dcterms:W3CDTF">2024-06-24T12:27:37Z</dcterms:created>
  <dcterms:modified xsi:type="dcterms:W3CDTF">2026-08-17T18:26:16Z</dcterms:modified>
</cp:coreProperties>
</file>